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Ex1.xml" ContentType="application/vnd.ms-office.chartex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sldIdLst>
    <p:sldId id="269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各站点目标与实际销售额（万美元）</a:t>
            </a:r>
            <a:endParaRPr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'10_销售目标对比'!$B$1</c:f>
              <c:strCache>
                <c:ptCount val="1"/>
                <c:pt idx="0">
                  <c:v>目标销售额（万美元）</c:v>
                </c:pt>
              </c:strCache>
            </c:strRef>
          </c:tx>
          <c:spPr>
            <a:solidFill>
              <a:srgbClr val="A7AD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'10_销售目标对比'!$A$2:$A$4</c:f>
              <c:strCache>
                <c:ptCount val="3"/>
                <c:pt idx="0">
                  <c:v>Amazon US</c:v>
                </c:pt>
                <c:pt idx="1">
                  <c:v>Amazon EU</c:v>
                </c:pt>
                <c:pt idx="2">
                  <c:v>TikTok SEA</c:v>
                </c:pt>
              </c:strCache>
            </c:strRef>
          </c:cat>
          <c:val>
            <c:numRef>
              <c:f>'10_销售目标对比'!$B$2:$B$4</c:f>
              <c:numCache>
                <c:formatCode>0.00</c:formatCode>
                <c:ptCount val="3"/>
                <c:pt idx="0">
                  <c:v>102</c:v>
                </c:pt>
                <c:pt idx="1">
                  <c:v>30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'10_销售目标对比'!$C$1</c:f>
              <c:strCache>
                <c:ptCount val="1"/>
                <c:pt idx="0">
                  <c:v>实际销售额（万美元）</c:v>
                </c:pt>
              </c:strCache>
            </c:strRef>
          </c:tx>
          <c:spPr>
            <a:solidFill>
              <a:srgbClr val="416C91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'10_销售目标对比'!$A$2:$A$4</c:f>
              <c:strCache>
                <c:ptCount val="3"/>
                <c:pt idx="0">
                  <c:v>Amazon US</c:v>
                </c:pt>
                <c:pt idx="1">
                  <c:v>Amazon EU</c:v>
                </c:pt>
                <c:pt idx="2">
                  <c:v>TikTok SEA</c:v>
                </c:pt>
              </c:strCache>
            </c:strRef>
          </c:cat>
          <c:val>
            <c:numRef>
              <c:f>'10_销售目标对比'!$C$2:$C$4</c:f>
              <c:numCache>
                <c:formatCode>0.00</c:formatCode>
                <c:ptCount val="3"/>
                <c:pt idx="0">
                  <c:v>105.5</c:v>
                </c:pt>
                <c:pt idx="1">
                  <c:v>28.2</c:v>
                </c:pt>
                <c:pt idx="2">
                  <c:v>23.5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CCCCCC"/>
              </a:solidFill>
              <a:prstDash val="dash"/>
              <a:round/>
            </a:ln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CCCCCC"/>
              </a:solidFill>
              <a:prstDash val="dash"/>
              <a:round/>
            </a:ln>
          </c:spPr>
        </c:majorGridlines>
        <c:numFmt formatCode="0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fe38c60-3fbc-4201-a914-5723686de2aa}"/>
      </c:ext>
    </c:extLst>
  </c:chart>
  <c:spPr>
    <a:solidFill>
      <a:srgbClr val="FFFFFF"/>
    </a:solidFill>
    <a:ln w="12700">
      <a:noFill/>
      <a:prstDash val="solid"/>
      <a:round/>
    </a:ln>
  </c:spPr>
  <c:txPr>
    <a:bodyPr/>
    <a:lstStyle/>
    <a:p>
      <a:pPr>
        <a:defRPr lang="zh-CN" sz="1100">
          <a:ea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EU优惠券延迟时段订单转化率偏低</a:t>
            </a:r>
            <a:endParaRPr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'11_EU转化率对比'!$B$1</c:f>
              <c:strCache>
                <c:ptCount val="1"/>
                <c:pt idx="0">
                  <c:v>订单转化率</c:v>
                </c:pt>
              </c:strCache>
            </c:strRef>
          </c:tx>
          <c:spPr>
            <a:solidFill>
              <a:srgbClr val="B0B0B0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D58441"/>
              </a:solidFill>
            </c:spPr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'11_EU转化率对比'!$A$2:$A$6</c:f>
              <c:strCache>
                <c:ptCount val="5"/>
                <c:pt idx="0">
                  <c:v>11月29日10—14点</c:v>
                </c:pt>
                <c:pt idx="1">
                  <c:v>11月29日14—18点（延迟）</c:v>
                </c:pt>
                <c:pt idx="2">
                  <c:v>11月29日18—22点</c:v>
                </c:pt>
                <c:pt idx="3">
                  <c:v>11月30日14—18点</c:v>
                </c:pt>
                <c:pt idx="4">
                  <c:v>12月1日14—18点</c:v>
                </c:pt>
              </c:strCache>
            </c:strRef>
          </c:cat>
          <c:val>
            <c:numRef>
              <c:f>'11_EU转化率对比'!$B$2:$B$6</c:f>
              <c:numCache>
                <c:formatCode>0.00%</c:formatCode>
                <c:ptCount val="5"/>
                <c:pt idx="0">
                  <c:v>0.2782</c:v>
                </c:pt>
                <c:pt idx="1">
                  <c:v>0.173</c:v>
                </c:pt>
                <c:pt idx="2">
                  <c:v>0.2757</c:v>
                </c:pt>
                <c:pt idx="3">
                  <c:v>0.2719</c:v>
                </c:pt>
                <c:pt idx="4">
                  <c:v>0.2788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CCCCCC"/>
              </a:solidFill>
              <a:prstDash val="dash"/>
              <a:round/>
            </a:ln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CCCCCC"/>
              </a:solidFill>
              <a:prstDash val="dash"/>
              <a:round/>
            </a:ln>
          </c:spPr>
        </c:majorGridlines>
        <c:numFmt formatCode="0%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50aaf352-8ede-4464-ac1a-1d02cd48cea6}"/>
      </c:ext>
    </c:extLst>
  </c:chart>
  <c:spPr>
    <a:solidFill>
      <a:srgbClr val="FFFFFF"/>
    </a:solidFill>
    <a:ln w="12700">
      <a:noFill/>
      <a:prstDash val="solid"/>
      <a:round/>
    </a:ln>
  </c:spPr>
  <c:txPr>
    <a:bodyPr/>
    <a:lstStyle/>
    <a:p>
      <a:pPr>
        <a:defRPr lang="zh-CN" sz="1100">
          <a:ea typeface="微软雅黑" panose="020B0503020204020204" charset="-122"/>
        </a:defRPr>
      </a:pPr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'12_TK利润瀑布'!$A$2:$A$10</cx:f>
        <cx:lvl ptCount="9">
          <cx:pt idx="0">销售收入</cx:pt>
          <cx:pt idx="1">采购成本</cx:pt>
          <cx:pt idx="2">履约费用</cx:pt>
          <cx:pt idx="3">平台佣金</cx:pt>
          <cx:pt idx="4">广告费用</cx:pt>
          <cx:pt idx="5">退货成本</cx:pt>
          <cx:pt idx="6">头程运费</cx:pt>
          <cx:pt idx="7">其他费用</cx:pt>
          <cx:pt idx="8">经营利润</cx:pt>
        </cx:lvl>
      </cx:strDim>
      <cx:numDim type="val">
        <cx:f>'12_TK利润瀑布'!$B$2:$B$10</cx:f>
        <cx:lvl ptCount="9" formatCode="0.00">
          <cx:pt idx="0">235000</cx:pt>
          <cx:pt idx="1">-70500</cx:pt>
          <cx:pt idx="2">-42300</cx:pt>
          <cx:pt idx="3">-35250</cx:pt>
          <cx:pt idx="4">-57000</cx:pt>
          <cx:pt idx="5">-21150</cx:pt>
          <cx:pt idx="6">-10920</cx:pt>
          <cx:pt idx="7">-9390</cx:pt>
          <cx:pt idx="8">-11510</cx:pt>
        </cx:lvl>
      </cx:numDim>
    </cx:data>
  </cx:chartData>
  <cx:chart>
    <cx:title pos="t" align="ctr" overlay="0">
      <cx:tx>
        <cx:txData>
          <cx:v>TikTok销售额扣除各项成本后亏损11510美元</cx:v>
        </cx:txData>
      </cx:tx>
      <cx:txPr>
        <a:bodyPr rot="0" spcFirstLastPara="0" vertOverflow="ellipsis" vert="horz" wrap="square" anchor="ctr" anchorCtr="1"/>
        <a:lstStyle/>
        <a:p>
          <a:pPr>
            <a:defRPr lang="zh-CN" sz="15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  <a:r>
            <a:rPr sz="1500">
              <a:ea typeface="微软雅黑" panose="020B0503020204020204" charset="-122"/>
            </a:rPr>
            <a:t>TikTok销售额扣除各项成本后亏损11510美元</a:t>
          </a:r>
        </a:p>
      </cx:txPr>
    </cx:title>
    <cx:plotArea>
      <cx:plotAreaRegion>
        <cx:series layoutId="waterfall" uniqueId="{d3940a05-ec7f-4516-a148-573cc5268997}" formatIdx="0">
          <cx:tx>
            <cx:txData>
              <cx:f>'12_TK利润瀑布'!$B$1</cx:f>
              <cx:v>金额（美元）</cx:v>
            </cx:txData>
          </cx:tx>
          <cx:dataPt idx="0">
            <cx:spPr>
              <a:solidFill>
                <a:srgbClr val="416C91"/>
              </a:solidFill>
            </cx:spPr>
          </cx:dataPt>
          <cx:dataPt idx="1">
            <cx:spPr>
              <a:solidFill>
                <a:srgbClr val="B0B0B0"/>
              </a:solidFill>
            </cx:spPr>
          </cx:dataPt>
          <cx:dataPt idx="2">
            <cx:spPr>
              <a:solidFill>
                <a:srgbClr val="B0B0B0"/>
              </a:solidFill>
            </cx:spPr>
          </cx:dataPt>
          <cx:dataPt idx="3">
            <cx:spPr>
              <a:solidFill>
                <a:srgbClr val="B0B0B0"/>
              </a:solidFill>
            </cx:spPr>
          </cx:dataPt>
          <cx:dataPt idx="4">
            <cx:spPr>
              <a:solidFill>
                <a:srgbClr val="B0B0B0"/>
              </a:solidFill>
            </cx:spPr>
          </cx:dataPt>
          <cx:dataPt idx="5">
            <cx:spPr>
              <a:solidFill>
                <a:srgbClr val="B0B0B0"/>
              </a:solidFill>
            </cx:spPr>
          </cx:dataPt>
          <cx:dataPt idx="6">
            <cx:spPr>
              <a:solidFill>
                <a:srgbClr val="B0B0B0"/>
              </a:solidFill>
            </cx:spPr>
          </cx:dataPt>
          <cx:dataPt idx="7">
            <cx:spPr>
              <a:solidFill>
                <a:srgbClr val="B0B0B0"/>
              </a:solidFill>
            </cx:spPr>
          </cx:dataPt>
          <cx:dataPt idx="8">
            <cx:spPr>
              <a:solidFill>
                <a:srgbClr val="416C91"/>
              </a:solidFill>
            </cx:spPr>
          </cx:dataPt>
          <cx:dataLabels pos="outEnd">
            <cx:numFmt formatCode="0.00" sourceLinked="1"/>
            <cx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endParaRPr lang="zh-CN" sz="1100" b="0" i="0" u="none" strike="noStrike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0"/>
              <cx:idx val="8"/>
            </cx:subtotals>
          </cx:layoutPr>
        </cx:series>
      </cx:plotAreaRegion>
      <cx:axis id="0">
        <cx:catScaling gapWidth="0.5"/>
        <cx:tickLabels/>
        <cx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1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x:txPr>
      </cx:axis>
      <cx:axis id="1">
        <cx:valScaling min="-30000"/>
        <cx:majorGridlines/>
        <cx:tickLabels/>
        <cx:numFmt formatCode="0.00" sourceLinked="1"/>
        <cx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1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x:txPr>
      </cx:axis>
    </cx:plotArea>
  </cx:chart>
  <cx:spPr>
    <a:solidFill>
      <a:srgbClr val="FFFFFF"/>
    </a:solidFill>
    <a:ln w="9525" cap="flat" cmpd="sng" algn="ctr">
      <a:noFill/>
      <a:round/>
    </a:ln>
  </cx:spPr>
  <cx:txPr>
    <a:bodyPr/>
    <a:lstStyle/>
    <a:p>
      <a:pPr>
        <a:defRPr lang="zh-CN" sz="1100">
          <a:ea typeface="微软雅黑" panose="020B0503020204020204" charset="-122"/>
        </a:defRPr>
      </a:pPr>
      <a:endParaRPr lang="zh-CN" sz="1100">
        <a:ea typeface="微软雅黑" panose="020B0503020204020204" charset="-122"/>
      </a:endParaRPr>
    </a:p>
  </cx:txPr>
  <cx:printSettings>
    <cx:headerFooter/>
    <cx:pageMargins b="0.75" l="0.7" r="0.7" t="0.75" header="0.3" footer="0.3"/>
    <cx:pageSetup/>
  </cx:printSettings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ea typeface="宋体" panose="02010600030101010101" pitchFamily="2" charset="-122"/>
              </a:rPr>
              <a:t>来源：黑五经营复盘报告</a:t>
            </a:r>
            <a:r>
              <a:rPr lang="en-US" altLang="zh-CN">
                <a:ea typeface="宋体" panose="02010600030101010101" pitchFamily="2" charset="-122"/>
              </a:rPr>
              <a:t>.md</a:t>
            </a:r>
            <a:r>
              <a:rPr lang="zh-CN" altLang="en-US">
                <a:ea typeface="宋体" panose="02010600030101010101" pitchFamily="2" charset="-122"/>
              </a:rPr>
              <a:t>、黑五</a:t>
            </a:r>
            <a:r>
              <a:rPr lang="en-US" altLang="zh-CN">
                <a:ea typeface="宋体" panose="02010600030101010101" pitchFamily="2" charset="-122"/>
              </a:rPr>
              <a:t>SQL</a:t>
            </a:r>
            <a:r>
              <a:rPr lang="zh-CN" altLang="en-US">
                <a:ea typeface="宋体" panose="02010600030101010101" pitchFamily="2" charset="-122"/>
              </a:rPr>
              <a:t>结果与</a:t>
            </a:r>
            <a:r>
              <a:rPr lang="en-US" altLang="zh-CN">
                <a:ea typeface="宋体" panose="02010600030101010101" pitchFamily="2" charset="-122"/>
              </a:rPr>
              <a:t>Excel</a:t>
            </a:r>
            <a:r>
              <a:rPr lang="zh-CN" altLang="en-US">
                <a:ea typeface="宋体" panose="02010600030101010101" pitchFamily="2" charset="-122"/>
              </a:rPr>
              <a:t>分析</a:t>
            </a:r>
            <a:r>
              <a:rPr lang="en-US" altLang="zh-CN">
                <a:ea typeface="宋体" panose="02010600030101010101" pitchFamily="2" charset="-122"/>
              </a:rPr>
              <a:t>.xlsx</a:t>
            </a:r>
            <a:r>
              <a:rPr lang="zh-CN" altLang="en-US">
                <a:ea typeface="宋体" panose="02010600030101010101" pitchFamily="2" charset="-122"/>
              </a:rPr>
              <a:t>。底层为海蓝家居课程项目模拟数据，未将复盘结果表述为真实企业实施业绩。金额为美元，时间为</a:t>
            </a:r>
            <a:r>
              <a:rPr lang="en-US" altLang="zh-CN">
                <a:ea typeface="宋体" panose="02010600030101010101" pitchFamily="2" charset="-122"/>
              </a:rPr>
              <a:t>ET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 45490美元为本次固定销售和非广告成本下的静态测算，不代表削减广告后销售保持不变。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来源：黑五经营复盘报告.md、黑五SQL结果与Excel分析.xlsx。底层为海蓝家居课程项目模拟数据，未将复盘结果表述为真实企业实施业绩。金额为美元，时间为ET。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 descr="波浪2资源 2"/>
          <p:cNvSpPr/>
          <p:nvPr userDrawn="1">
            <p:custDataLst>
              <p:tags r:id="rId2"/>
            </p:custDataLst>
          </p:nvPr>
        </p:nvSpPr>
        <p:spPr>
          <a:xfrm>
            <a:off x="6887209" y="669925"/>
            <a:ext cx="5304791" cy="6192323"/>
          </a:xfrm>
          <a:custGeom>
            <a:avLst/>
            <a:gdLst>
              <a:gd name="connsiteX0" fmla="*/ 4946557 w 5304791"/>
              <a:gd name="connsiteY0" fmla="*/ 0 h 6192323"/>
              <a:gd name="connsiteX1" fmla="*/ 5304791 w 5304791"/>
              <a:gd name="connsiteY1" fmla="*/ 0 h 6192323"/>
              <a:gd name="connsiteX2" fmla="*/ 5304791 w 5304791"/>
              <a:gd name="connsiteY2" fmla="*/ 6192323 h 6192323"/>
              <a:gd name="connsiteX3" fmla="*/ 0 w 5304791"/>
              <a:gd name="connsiteY3" fmla="*/ 6192323 h 6192323"/>
              <a:gd name="connsiteX4" fmla="*/ 0 w 5304791"/>
              <a:gd name="connsiteY4" fmla="*/ 4946212 h 6192323"/>
              <a:gd name="connsiteX5" fmla="*/ 818112 w 5304791"/>
              <a:gd name="connsiteY5" fmla="*/ 4128101 h 6192323"/>
              <a:gd name="connsiteX6" fmla="*/ 1295478 w 5304791"/>
              <a:gd name="connsiteY6" fmla="*/ 4128101 h 6192323"/>
              <a:gd name="connsiteX7" fmla="*/ 2064682 w 5304791"/>
              <a:gd name="connsiteY7" fmla="*/ 3358897 h 6192323"/>
              <a:gd name="connsiteX8" fmla="*/ 2064682 w 5304791"/>
              <a:gd name="connsiteY8" fmla="*/ 2881645 h 6192323"/>
              <a:gd name="connsiteX9" fmla="*/ 2882794 w 5304791"/>
              <a:gd name="connsiteY9" fmla="*/ 2063648 h 6192323"/>
              <a:gd name="connsiteX10" fmla="*/ 3360159 w 5304791"/>
              <a:gd name="connsiteY10" fmla="*/ 2063648 h 6192323"/>
              <a:gd name="connsiteX11" fmla="*/ 4129363 w 5304791"/>
              <a:gd name="connsiteY11" fmla="*/ 1294444 h 6192323"/>
              <a:gd name="connsiteX12" fmla="*/ 4129363 w 5304791"/>
              <a:gd name="connsiteY12" fmla="*/ 818112 h 6192323"/>
              <a:gd name="connsiteX13" fmla="*/ 4946557 w 5304791"/>
              <a:gd name="connsiteY13" fmla="*/ 0 h 619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04791" h="6192323">
                <a:moveTo>
                  <a:pt x="4946557" y="0"/>
                </a:moveTo>
                <a:lnTo>
                  <a:pt x="5304791" y="0"/>
                </a:lnTo>
                <a:lnTo>
                  <a:pt x="5304791" y="6192323"/>
                </a:lnTo>
                <a:lnTo>
                  <a:pt x="0" y="6192323"/>
                </a:lnTo>
                <a:lnTo>
                  <a:pt x="0" y="4946212"/>
                </a:lnTo>
                <a:cubicBezTo>
                  <a:pt x="-63" y="4494356"/>
                  <a:pt x="366255" y="4128032"/>
                  <a:pt x="818112" y="4128101"/>
                </a:cubicBezTo>
                <a:lnTo>
                  <a:pt x="1295478" y="4128101"/>
                </a:lnTo>
                <a:cubicBezTo>
                  <a:pt x="1720296" y="4128101"/>
                  <a:pt x="2064682" y="3783715"/>
                  <a:pt x="2064682" y="3358897"/>
                </a:cubicBezTo>
                <a:lnTo>
                  <a:pt x="2064682" y="2881645"/>
                </a:lnTo>
                <a:cubicBezTo>
                  <a:pt x="2064682" y="2429836"/>
                  <a:pt x="2430984" y="2063580"/>
                  <a:pt x="2882794" y="2063648"/>
                </a:cubicBezTo>
                <a:lnTo>
                  <a:pt x="3360159" y="2063648"/>
                </a:lnTo>
                <a:cubicBezTo>
                  <a:pt x="3784978" y="2063648"/>
                  <a:pt x="4129363" y="1719263"/>
                  <a:pt x="4129363" y="1294444"/>
                </a:cubicBezTo>
                <a:lnTo>
                  <a:pt x="4129363" y="818112"/>
                </a:lnTo>
                <a:cubicBezTo>
                  <a:pt x="4129295" y="366613"/>
                  <a:pt x="4495057" y="444"/>
                  <a:pt x="4946557" y="0"/>
                </a:cubicBezTo>
                <a:close/>
              </a:path>
            </a:pathLst>
          </a:custGeom>
          <a:solidFill>
            <a:schemeClr val="accent1"/>
          </a:solidFill>
          <a:ln w="1146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3"/>
            </p:custDataLst>
          </p:nvPr>
        </p:nvSpPr>
        <p:spPr>
          <a:xfrm>
            <a:off x="6767195" y="4498975"/>
            <a:ext cx="1087755" cy="108775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4"/>
            </p:custDataLst>
          </p:nvPr>
        </p:nvSpPr>
        <p:spPr>
          <a:xfrm>
            <a:off x="6614795" y="4346575"/>
            <a:ext cx="1393190" cy="139319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6464300" y="4196080"/>
            <a:ext cx="1694180" cy="169418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6318250" y="4050030"/>
            <a:ext cx="1986280" cy="1986280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>
            <p:custDataLst>
              <p:tags r:id="rId7"/>
            </p:custDataLst>
          </p:nvPr>
        </p:nvSpPr>
        <p:spPr>
          <a:xfrm>
            <a:off x="6158865" y="3890645"/>
            <a:ext cx="2304415" cy="2304415"/>
          </a:xfrm>
          <a:prstGeom prst="ellipse">
            <a:avLst/>
          </a:prstGeom>
          <a:noFill/>
          <a:ln>
            <a:solidFill>
              <a:schemeClr val="accent5">
                <a:alpha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>
            <p:custDataLst>
              <p:tags r:id="rId8"/>
            </p:custDataLst>
          </p:nvPr>
        </p:nvGrpSpPr>
        <p:grpSpPr>
          <a:xfrm rot="5400000">
            <a:off x="1183958" y="384810"/>
            <a:ext cx="328295" cy="850900"/>
            <a:chOff x="8651" y="7205"/>
            <a:chExt cx="807" cy="2089"/>
          </a:xfrm>
          <a:solidFill>
            <a:schemeClr val="accent5"/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8651" y="9115"/>
              <a:ext cx="806" cy="179"/>
              <a:chOff x="8651" y="9544"/>
              <a:chExt cx="806" cy="179"/>
            </a:xfrm>
            <a:grpFill/>
          </p:grpSpPr>
          <p:sp>
            <p:nvSpPr>
              <p:cNvPr id="30" name="椭圆 29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>
              <a:xfrm rot="5400000" flipH="1">
                <a:off x="9278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>
              <a:xfrm rot="5400000" flipH="1">
                <a:off x="8651" y="9544"/>
                <a:ext cx="179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8651" y="8479"/>
              <a:ext cx="807" cy="178"/>
              <a:chOff x="8651" y="8765"/>
              <a:chExt cx="807" cy="178"/>
            </a:xfrm>
            <a:grpFill/>
          </p:grpSpPr>
          <p:sp>
            <p:nvSpPr>
              <p:cNvPr id="28" name="椭圆 27"/>
              <p:cNvSpPr>
                <a:spLocks noChangeAspect="1"/>
              </p:cNvSpPr>
              <p:nvPr>
                <p:custDataLst>
                  <p:tags r:id="rId11"/>
                </p:custDataLst>
              </p:nvPr>
            </p:nvSpPr>
            <p:spPr>
              <a:xfrm rot="5400000" flipH="1">
                <a:off x="9279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>
                <a:spLocks noChangeAspect="1"/>
              </p:cNvSpPr>
              <p:nvPr>
                <p:custDataLst>
                  <p:tags r:id="rId12"/>
                </p:custDataLst>
              </p:nvPr>
            </p:nvSpPr>
            <p:spPr>
              <a:xfrm rot="5400000" flipH="1">
                <a:off x="8651" y="876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651" y="7842"/>
              <a:ext cx="807" cy="178"/>
              <a:chOff x="8651" y="7985"/>
              <a:chExt cx="807" cy="178"/>
            </a:xfrm>
            <a:grpFill/>
          </p:grpSpPr>
          <p:sp>
            <p:nvSpPr>
              <p:cNvPr id="26" name="椭圆 25"/>
              <p:cNvSpPr>
                <a:spLocks noChangeAspect="1"/>
              </p:cNvSpPr>
              <p:nvPr>
                <p:custDataLst>
                  <p:tags r:id="rId13"/>
                </p:custDataLst>
              </p:nvPr>
            </p:nvSpPr>
            <p:spPr>
              <a:xfrm rot="5400000" flipH="1">
                <a:off x="9279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>
              <a:xfrm rot="5400000" flipH="1">
                <a:off x="8651" y="798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651" y="7205"/>
              <a:ext cx="807" cy="178"/>
              <a:chOff x="8651" y="7205"/>
              <a:chExt cx="807" cy="178"/>
            </a:xfrm>
            <a:grpFill/>
          </p:grpSpPr>
          <p:sp>
            <p:nvSpPr>
              <p:cNvPr id="23" name="椭圆 22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>
              <a:xfrm rot="5400000" flipH="1">
                <a:off x="9279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>
              <a:xfrm rot="5400000" flipH="1">
                <a:off x="8651" y="7204"/>
                <a:ext cx="178" cy="17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2" name="任意多边形: 形状 31" descr="波浪1资源 1"/>
          <p:cNvSpPr/>
          <p:nvPr userDrawn="1">
            <p:custDataLst>
              <p:tags r:id="rId17"/>
            </p:custDataLst>
          </p:nvPr>
        </p:nvSpPr>
        <p:spPr>
          <a:xfrm>
            <a:off x="9172576" y="2862604"/>
            <a:ext cx="3019425" cy="3993396"/>
          </a:xfrm>
          <a:custGeom>
            <a:avLst/>
            <a:gdLst>
              <a:gd name="connsiteX0" fmla="*/ 3019425 w 3019425"/>
              <a:gd name="connsiteY0" fmla="*/ 0 h 3993396"/>
              <a:gd name="connsiteX1" fmla="*/ 3019425 w 3019425"/>
              <a:gd name="connsiteY1" fmla="*/ 3993396 h 3993396"/>
              <a:gd name="connsiteX2" fmla="*/ 0 w 3019425"/>
              <a:gd name="connsiteY2" fmla="*/ 3993396 h 3993396"/>
              <a:gd name="connsiteX3" fmla="*/ 0 w 3019425"/>
              <a:gd name="connsiteY3" fmla="*/ 3117146 h 3993396"/>
              <a:gd name="connsiteX4" fmla="*/ 460299 w 3019425"/>
              <a:gd name="connsiteY4" fmla="*/ 2656847 h 3993396"/>
              <a:gd name="connsiteX5" fmla="*/ 876250 w 3019425"/>
              <a:gd name="connsiteY5" fmla="*/ 2656847 h 3993396"/>
              <a:gd name="connsiteX6" fmla="*/ 1336549 w 3019425"/>
              <a:gd name="connsiteY6" fmla="*/ 2196783 h 3993396"/>
              <a:gd name="connsiteX7" fmla="*/ 1336549 w 3019425"/>
              <a:gd name="connsiteY7" fmla="*/ 2196666 h 3993396"/>
              <a:gd name="connsiteX8" fmla="*/ 1336549 w 3019425"/>
              <a:gd name="connsiteY8" fmla="*/ 1780714 h 3993396"/>
              <a:gd name="connsiteX9" fmla="*/ 1796731 w 3019425"/>
              <a:gd name="connsiteY9" fmla="*/ 1320415 h 3993396"/>
              <a:gd name="connsiteX10" fmla="*/ 2212800 w 3019425"/>
              <a:gd name="connsiteY10" fmla="*/ 1320415 h 3993396"/>
              <a:gd name="connsiteX11" fmla="*/ 2672981 w 3019425"/>
              <a:gd name="connsiteY11" fmla="*/ 860234 h 3993396"/>
              <a:gd name="connsiteX12" fmla="*/ 2672981 w 3019425"/>
              <a:gd name="connsiteY12" fmla="*/ 860116 h 3993396"/>
              <a:gd name="connsiteX13" fmla="*/ 2672981 w 3019425"/>
              <a:gd name="connsiteY13" fmla="*/ 444400 h 3993396"/>
              <a:gd name="connsiteX14" fmla="*/ 2954111 w 3019425"/>
              <a:gd name="connsiteY14" fmla="*/ 20274 h 3993396"/>
              <a:gd name="connsiteX15" fmla="*/ 3019425 w 3019425"/>
              <a:gd name="connsiteY15" fmla="*/ 0 h 39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19425" h="3993396">
                <a:moveTo>
                  <a:pt x="3019425" y="0"/>
                </a:moveTo>
                <a:lnTo>
                  <a:pt x="3019425" y="3993396"/>
                </a:lnTo>
                <a:lnTo>
                  <a:pt x="0" y="3993396"/>
                </a:lnTo>
                <a:lnTo>
                  <a:pt x="0" y="3117146"/>
                </a:lnTo>
                <a:cubicBezTo>
                  <a:pt x="0" y="2862930"/>
                  <a:pt x="206083" y="2656847"/>
                  <a:pt x="460299" y="2656847"/>
                </a:cubicBezTo>
                <a:lnTo>
                  <a:pt x="876250" y="2656847"/>
                </a:lnTo>
                <a:cubicBezTo>
                  <a:pt x="1130402" y="2656912"/>
                  <a:pt x="1336484" y="2450934"/>
                  <a:pt x="1336549" y="2196783"/>
                </a:cubicBezTo>
                <a:cubicBezTo>
                  <a:pt x="1336549" y="2196744"/>
                  <a:pt x="1336549" y="2196705"/>
                  <a:pt x="1336549" y="2196666"/>
                </a:cubicBezTo>
                <a:lnTo>
                  <a:pt x="1336549" y="1780714"/>
                </a:lnTo>
                <a:cubicBezTo>
                  <a:pt x="1336549" y="1526544"/>
                  <a:pt x="1542561" y="1320480"/>
                  <a:pt x="1796731" y="1320415"/>
                </a:cubicBezTo>
                <a:lnTo>
                  <a:pt x="2212800" y="1320415"/>
                </a:lnTo>
                <a:cubicBezTo>
                  <a:pt x="2466951" y="1320415"/>
                  <a:pt x="2672981" y="1114385"/>
                  <a:pt x="2672981" y="860234"/>
                </a:cubicBezTo>
                <a:cubicBezTo>
                  <a:pt x="2672981" y="860195"/>
                  <a:pt x="2672981" y="860155"/>
                  <a:pt x="2672981" y="860116"/>
                </a:cubicBezTo>
                <a:lnTo>
                  <a:pt x="2672981" y="444400"/>
                </a:lnTo>
                <a:cubicBezTo>
                  <a:pt x="2672981" y="253738"/>
                  <a:pt x="2788903" y="90151"/>
                  <a:pt x="2954111" y="20274"/>
                </a:cubicBezTo>
                <a:lnTo>
                  <a:pt x="3019425" y="0"/>
                </a:lnTo>
                <a:close/>
              </a:path>
            </a:pathLst>
          </a:custGeom>
          <a:solidFill>
            <a:schemeClr val="accent4"/>
          </a:solidFill>
          <a:ln w="117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33" name="组合 32"/>
          <p:cNvGrpSpPr/>
          <p:nvPr userDrawn="1">
            <p:custDataLst>
              <p:tags r:id="rId18"/>
            </p:custDataLst>
          </p:nvPr>
        </p:nvGrpSpPr>
        <p:grpSpPr>
          <a:xfrm>
            <a:off x="3089660" y="0"/>
            <a:ext cx="2728840" cy="1364420"/>
            <a:chOff x="3089660" y="0"/>
            <a:chExt cx="2728840" cy="1364420"/>
          </a:xfrm>
        </p:grpSpPr>
        <p:sp>
          <p:nvSpPr>
            <p:cNvPr id="34" name="任意多边形: 形状 33"/>
            <p:cNvSpPr/>
            <p:nvPr>
              <p:custDataLst>
                <p:tags r:id="rId19"/>
              </p:custDataLst>
            </p:nvPr>
          </p:nvSpPr>
          <p:spPr>
            <a:xfrm>
              <a:off x="3825125" y="0"/>
              <a:ext cx="1257910" cy="628955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/>
            <p:cNvSpPr/>
            <p:nvPr>
              <p:custDataLst>
                <p:tags r:id="rId20"/>
              </p:custDataLst>
            </p:nvPr>
          </p:nvSpPr>
          <p:spPr>
            <a:xfrm>
              <a:off x="3651277" y="0"/>
              <a:ext cx="1605606" cy="802804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6" name="任意多边形: 形状 35"/>
            <p:cNvSpPr/>
            <p:nvPr>
              <p:custDataLst>
                <p:tags r:id="rId21"/>
              </p:custDataLst>
            </p:nvPr>
          </p:nvSpPr>
          <p:spPr>
            <a:xfrm>
              <a:off x="3483452" y="0"/>
              <a:ext cx="1941257" cy="970629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7" name="任意多边形: 形状 36"/>
            <p:cNvSpPr/>
            <p:nvPr>
              <p:custDataLst>
                <p:tags r:id="rId22"/>
              </p:custDataLst>
            </p:nvPr>
          </p:nvSpPr>
          <p:spPr>
            <a:xfrm>
              <a:off x="3301845" y="0"/>
              <a:ext cx="2304471" cy="1152236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  <p:sp>
          <p:nvSpPr>
            <p:cNvPr id="38" name="任意多边形: 形状 37"/>
            <p:cNvSpPr/>
            <p:nvPr>
              <p:custDataLst>
                <p:tags r:id="rId23"/>
              </p:custDataLst>
            </p:nvPr>
          </p:nvSpPr>
          <p:spPr>
            <a:xfrm>
              <a:off x="3089660" y="0"/>
              <a:ext cx="2728840" cy="1364420"/>
            </a:xfrm>
            <a:custGeom>
              <a:avLst/>
              <a:gdLst>
                <a:gd name="connsiteX0" fmla="*/ 26397 w 1257910"/>
                <a:gd name="connsiteY0" fmla="*/ 0 h 799585"/>
                <a:gd name="connsiteX1" fmla="*/ 1231513 w 1257910"/>
                <a:gd name="connsiteY1" fmla="*/ 0 h 799585"/>
                <a:gd name="connsiteX2" fmla="*/ 1245132 w 1257910"/>
                <a:gd name="connsiteY2" fmla="*/ 43874 h 799585"/>
                <a:gd name="connsiteX3" fmla="*/ 1257910 w 1257910"/>
                <a:gd name="connsiteY3" fmla="*/ 170630 h 799585"/>
                <a:gd name="connsiteX4" fmla="*/ 628955 w 1257910"/>
                <a:gd name="connsiteY4" fmla="*/ 799585 h 799585"/>
                <a:gd name="connsiteX5" fmla="*/ 0 w 1257910"/>
                <a:gd name="connsiteY5" fmla="*/ 170630 h 799585"/>
                <a:gd name="connsiteX6" fmla="*/ 12778 w 1257910"/>
                <a:gd name="connsiteY6" fmla="*/ 43874 h 799585"/>
                <a:gd name="connsiteX7" fmla="*/ 26397 w 1257910"/>
                <a:gd name="connsiteY7" fmla="*/ 0 h 799585"/>
                <a:gd name="connsiteX0-1" fmla="*/ 1231513 w 1322953"/>
                <a:gd name="connsiteY0-2" fmla="*/ 0 h 799585"/>
                <a:gd name="connsiteX1-3" fmla="*/ 1245132 w 1322953"/>
                <a:gd name="connsiteY1-4" fmla="*/ 43874 h 799585"/>
                <a:gd name="connsiteX2-5" fmla="*/ 1257910 w 1322953"/>
                <a:gd name="connsiteY2-6" fmla="*/ 170630 h 799585"/>
                <a:gd name="connsiteX3-7" fmla="*/ 628955 w 1322953"/>
                <a:gd name="connsiteY3-8" fmla="*/ 799585 h 799585"/>
                <a:gd name="connsiteX4-9" fmla="*/ 0 w 1322953"/>
                <a:gd name="connsiteY4-10" fmla="*/ 170630 h 799585"/>
                <a:gd name="connsiteX5-11" fmla="*/ 12778 w 1322953"/>
                <a:gd name="connsiteY5-12" fmla="*/ 43874 h 799585"/>
                <a:gd name="connsiteX6-13" fmla="*/ 26397 w 1322953"/>
                <a:gd name="connsiteY6-14" fmla="*/ 0 h 799585"/>
                <a:gd name="connsiteX7-15" fmla="*/ 1322953 w 1322953"/>
                <a:gd name="connsiteY7-16" fmla="*/ 91440 h 799585"/>
                <a:gd name="connsiteX0-17" fmla="*/ 1231513 w 1257910"/>
                <a:gd name="connsiteY0-18" fmla="*/ 0 h 799585"/>
                <a:gd name="connsiteX1-19" fmla="*/ 1245132 w 1257910"/>
                <a:gd name="connsiteY1-20" fmla="*/ 43874 h 799585"/>
                <a:gd name="connsiteX2-21" fmla="*/ 1257910 w 1257910"/>
                <a:gd name="connsiteY2-22" fmla="*/ 170630 h 799585"/>
                <a:gd name="connsiteX3-23" fmla="*/ 628955 w 1257910"/>
                <a:gd name="connsiteY3-24" fmla="*/ 799585 h 799585"/>
                <a:gd name="connsiteX4-25" fmla="*/ 0 w 1257910"/>
                <a:gd name="connsiteY4-26" fmla="*/ 170630 h 799585"/>
                <a:gd name="connsiteX5-27" fmla="*/ 12778 w 1257910"/>
                <a:gd name="connsiteY5-28" fmla="*/ 43874 h 799585"/>
                <a:gd name="connsiteX6-29" fmla="*/ 26397 w 1257910"/>
                <a:gd name="connsiteY6-30" fmla="*/ 0 h 799585"/>
                <a:gd name="connsiteX0-31" fmla="*/ 1245132 w 1257910"/>
                <a:gd name="connsiteY0-32" fmla="*/ 43874 h 799585"/>
                <a:gd name="connsiteX1-33" fmla="*/ 1257910 w 1257910"/>
                <a:gd name="connsiteY1-34" fmla="*/ 170630 h 799585"/>
                <a:gd name="connsiteX2-35" fmla="*/ 628955 w 1257910"/>
                <a:gd name="connsiteY2-36" fmla="*/ 799585 h 799585"/>
                <a:gd name="connsiteX3-37" fmla="*/ 0 w 1257910"/>
                <a:gd name="connsiteY3-38" fmla="*/ 170630 h 799585"/>
                <a:gd name="connsiteX4-39" fmla="*/ 12778 w 1257910"/>
                <a:gd name="connsiteY4-40" fmla="*/ 43874 h 799585"/>
                <a:gd name="connsiteX5-41" fmla="*/ 26397 w 1257910"/>
                <a:gd name="connsiteY5-42" fmla="*/ 0 h 799585"/>
                <a:gd name="connsiteX0-43" fmla="*/ 1245132 w 1257910"/>
                <a:gd name="connsiteY0-44" fmla="*/ 0 h 755711"/>
                <a:gd name="connsiteX1-45" fmla="*/ 1257910 w 1257910"/>
                <a:gd name="connsiteY1-46" fmla="*/ 126756 h 755711"/>
                <a:gd name="connsiteX2-47" fmla="*/ 628955 w 1257910"/>
                <a:gd name="connsiteY2-48" fmla="*/ 755711 h 755711"/>
                <a:gd name="connsiteX3-49" fmla="*/ 0 w 1257910"/>
                <a:gd name="connsiteY3-50" fmla="*/ 126756 h 755711"/>
                <a:gd name="connsiteX4-51" fmla="*/ 12778 w 1257910"/>
                <a:gd name="connsiteY4-52" fmla="*/ 0 h 755711"/>
                <a:gd name="connsiteX0-53" fmla="*/ 1257910 w 1257910"/>
                <a:gd name="connsiteY0-54" fmla="*/ 126756 h 755711"/>
                <a:gd name="connsiteX1-55" fmla="*/ 628955 w 1257910"/>
                <a:gd name="connsiteY1-56" fmla="*/ 755711 h 755711"/>
                <a:gd name="connsiteX2-57" fmla="*/ 0 w 1257910"/>
                <a:gd name="connsiteY2-58" fmla="*/ 126756 h 755711"/>
                <a:gd name="connsiteX3-59" fmla="*/ 12778 w 1257910"/>
                <a:gd name="connsiteY3-60" fmla="*/ 0 h 755711"/>
                <a:gd name="connsiteX0-61" fmla="*/ 1257910 w 1257910"/>
                <a:gd name="connsiteY0-62" fmla="*/ 0 h 628955"/>
                <a:gd name="connsiteX1-63" fmla="*/ 628955 w 1257910"/>
                <a:gd name="connsiteY1-64" fmla="*/ 628955 h 628955"/>
                <a:gd name="connsiteX2-65" fmla="*/ 0 w 1257910"/>
                <a:gd name="connsiteY2-66" fmla="*/ 0 h 62895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257910" h="628955">
                  <a:moveTo>
                    <a:pt x="1257910" y="0"/>
                  </a:moveTo>
                  <a:cubicBezTo>
                    <a:pt x="1257910" y="347362"/>
                    <a:pt x="976317" y="628955"/>
                    <a:pt x="628955" y="628955"/>
                  </a:cubicBezTo>
                  <a:cubicBezTo>
                    <a:pt x="281593" y="628955"/>
                    <a:pt x="0" y="347362"/>
                    <a:pt x="0" y="0"/>
                  </a:cubicBezTo>
                </a:path>
              </a:pathLst>
            </a:custGeom>
            <a:noFill/>
            <a:ln>
              <a:solidFill>
                <a:schemeClr val="accent5">
                  <a:alpha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zh-CN" dirty="0"/>
            </a:p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4"/>
            </p:custDataLst>
          </p:nvPr>
        </p:nvSpPr>
        <p:spPr>
          <a:xfrm>
            <a:off x="838200" y="2131488"/>
            <a:ext cx="8708376" cy="1800000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4"/>
                </a:solidFill>
              </a:defRPr>
            </a:lvl1pPr>
          </a:lstStyle>
          <a:p>
            <a:r>
              <a:rPr lang="zh-CN" altLang="en-US" dirty="0"/>
              <a:t>单击此处编辑母版</a:t>
            </a:r>
            <a:br>
              <a:rPr lang="en-US" altLang="zh-CN" dirty="0"/>
            </a:br>
            <a:r>
              <a:rPr lang="zh-CN" altLang="en-US" dirty="0"/>
              <a:t>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5"/>
            </p:custDataLst>
          </p:nvPr>
        </p:nvSpPr>
        <p:spPr/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7"/>
            </p:custDataLst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28"/>
            </p:custDataLst>
          </p:nvPr>
        </p:nvSpPr>
        <p:spPr>
          <a:xfrm>
            <a:off x="842642" y="5230368"/>
            <a:ext cx="2743199" cy="97612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zh-CN" altLang="en-US" dirty="0"/>
              <a:t>公司名占位符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29"/>
            </p:custDataLst>
          </p:nvPr>
        </p:nvSpPr>
        <p:spPr>
          <a:xfrm>
            <a:off x="3360716" y="4168127"/>
            <a:ext cx="2950805" cy="97612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日期时间占位符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30"/>
            </p:custDataLst>
          </p:nvPr>
        </p:nvSpPr>
        <p:spPr>
          <a:xfrm>
            <a:off x="838200" y="4168895"/>
            <a:ext cx="2463645" cy="97612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microsoft.com/office/2014/relationships/chartEx" Target="../charts/chartEx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经营复盘会</a:t>
            </a:r>
            <a:endParaRPr sz="13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131695"/>
            <a:ext cx="4939665" cy="1800225"/>
          </a:xfrm>
        </p:spPr>
        <p:txBody>
          <a:bodyPr/>
          <a:lstStyle/>
          <a:p>
            <a:r>
              <a:rPr lang="zh-CN" altLang="zh-CN" sz="6000"/>
              <a:t>黑五经营复盘</a:t>
            </a:r>
            <a:endParaRPr lang="zh-CN" altLang="zh-CN" sz="6000"/>
          </a:p>
        </p:txBody>
      </p:sp>
      <p:sp>
        <p:nvSpPr>
          <p:cNvPr id="7" name="日期时间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2024</a:t>
            </a:r>
            <a:r>
              <a:rPr lang="zh-CN" altLang="en-US"/>
              <a:t>年</a:t>
            </a:r>
            <a:r>
              <a:rPr lang="en-US" altLang="zh-CN"/>
              <a:t>11</a:t>
            </a:r>
            <a:r>
              <a:rPr lang="zh-CN" altLang="en-US"/>
              <a:t>月</a:t>
            </a:r>
            <a:r>
              <a:rPr lang="en-US" altLang="zh-CN"/>
              <a:t>29</a:t>
            </a:r>
            <a:r>
              <a:rPr lang="zh-CN" altLang="en-US"/>
              <a:t>日</a:t>
            </a:r>
            <a:r>
              <a:rPr lang="en-US" altLang="zh-CN"/>
              <a:t>-12</a:t>
            </a:r>
            <a:r>
              <a:rPr lang="zh-CN" altLang="en-US"/>
              <a:t>月</a:t>
            </a:r>
            <a:r>
              <a:rPr lang="en-US" altLang="zh-CN"/>
              <a:t>1</a:t>
            </a:r>
            <a:r>
              <a:rPr lang="zh-CN" altLang="en-US"/>
              <a:t>日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汇报人：贺晓</a:t>
            </a:r>
            <a:r>
              <a:rPr lang="zh-CN" altLang="en-US"/>
              <a:t>菲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项目背景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项目背景与复盘目标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115060" y="1666875"/>
          <a:ext cx="8827770" cy="2857500"/>
        </p:xfrm>
        <a:graphic>
          <a:graphicData uri="http://schemas.openxmlformats.org/drawingml/2006/table">
            <a:tbl>
              <a:tblPr/>
              <a:tblGrid>
                <a:gridCol w="4946650"/>
                <a:gridCol w="38811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站点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销售目标（万美元）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Amazon US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102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Amazon EU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TikTok SEA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公司合计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1127125" y="4953000"/>
            <a:ext cx="8884285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广告预算18万美元。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复盘重点：增长是否健康，下一次如何调整资源。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分析方法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复盘思路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7145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看整体</a:t>
            </a:r>
            <a:endParaRPr sz="202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05250" y="1714500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核对销售目标、同比增长、经营利润与广告预算。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257175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查EU未达标</a:t>
            </a:r>
            <a:endParaRPr sz="202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05250" y="2571750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拆解流量、订单转化率和客单价，检查优惠券与广告。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34290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查TikTok亏损</a:t>
            </a:r>
            <a:endParaRPr sz="202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05250" y="3429000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沿利润逐项排查成本，再下钻投放、商品和履约。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428625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查US供给风险</a:t>
            </a:r>
            <a:endParaRPr sz="202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905250" y="4286250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检查畅销商品售罄与长尾积压，结合异常记录核查。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51435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定经营安排</a:t>
            </a:r>
            <a:endParaRPr sz="202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05250" y="5143500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按影响和可执行性排序，明确责任人、时间与验收。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公司整体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整体达标，销售与利润同步增长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6668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250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销售157.20万美元，目标达成率104.80%</a:t>
            </a:r>
            <a:endParaRPr sz="2250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5238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经营利润28.94万美元，同比增长70.22%，利润率18.41%。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广告费用18.50万美元，超预算5000美元，超支2.78%。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571500" y="2095500"/>
          <a:ext cx="11049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公司整体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同比增长包含渠道扩张，目标依据仍需补充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71500" y="1666875"/>
          <a:ext cx="11049000" cy="2714625"/>
        </p:xfrm>
        <a:graphic>
          <a:graphicData uri="http://schemas.openxmlformats.org/drawingml/2006/table">
            <a:tbl>
              <a:tblPr/>
              <a:tblGrid>
                <a:gridCol w="3333750"/>
                <a:gridCol w="2476500"/>
                <a:gridCol w="2571750"/>
                <a:gridCol w="2667000"/>
              </a:tblGrid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2023年黑五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2024年黑五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同比变化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销售额（万美元）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92.00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157.20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+70.87%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订单量（单）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32500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61500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+89.23%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客单价（美元）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28.31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25.56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−9.70%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经营利润（万美元）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28.94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+70.22%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46672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150万美元目标较去年提高63.04%，业务规模和活跃商品数均有增长。</a:t>
            </a:r>
            <a:endParaRPr sz="1950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52387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去年TikTok尚未放量，同比包含渠道扩张。下一次需补充站点同期表现、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需求预测和可售库存，不能仅凭月均销售规模判断三天目标是否合理。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Amazon EU未达标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EU优惠券异常期间，订单转化率偏低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6192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销售28.20万美元，达成率94.00%，缺口1.80万美元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52387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首日14:00—18:00优惠券延迟，订单转化率降至17.30%。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前后窗口和后两日同时段约为27%，优先检查优惠券上线及生效情况。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571500" y="2095500"/>
          <a:ext cx="11049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Amazon EU未达标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EU后两日流量减少，品类词广告效率下降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71500" y="1666875"/>
          <a:ext cx="11049000" cy="2190752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  <a:gridCol w="2571750"/>
                <a:gridCol w="2190750"/>
                <a:gridCol w="1905000"/>
              </a:tblGrid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日期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Sessions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销售额（美元）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订单转化率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客单价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11月29日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12983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107160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26.05%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31.69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11月30日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10868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95880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27.84%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31.69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12月1日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8942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78960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27.87%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31.69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42386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后两日转化率回升、客单价稳定，销售回落主要伴随流量减少。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504825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品类关键词广告CPC较日常上涨42.71%，ROAS下降18.52%。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继续核查流量来源、预算耗尽时点和广告位表现，再决定调价或调预算。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TikTok经营亏损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TikTok销售达标，但经营亏损11510美元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619250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销售23.50万美元，达成率130.56%，经营利润率−4.90%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5334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广告、履约和退货成本分别占销售额24.26%、18.00%和9.00%。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优先下钻直播投流、退货商品及高峰订单承接情况。</a:t>
            </a:r>
            <a:endParaRPr sz="1875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8" name="图表 7"/>
              <p:cNvGraphicFramePr/>
              <p:nvPr/>
            </p:nvGraphicFramePr>
            <p:xfrm>
              <a:off x="571500" y="2095500"/>
              <a:ext cx="11049000" cy="304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"/>
              </a:graphicData>
            </a:graphic>
          </p:graphicFrame>
        </mc:Choice>
        <mc:Fallback>
          <p:pic>
            <p:nvPicPr>
              <p:cNvPr id="8" name="图表 7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500" y="2095500"/>
                <a:ext cx="11049000" cy="304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TikTok经营亏损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直播投流效率下降，广告预算需受利润约束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71500" y="1666875"/>
          <a:ext cx="11049000" cy="2095500"/>
        </p:xfrm>
        <a:graphic>
          <a:graphicData uri="http://schemas.openxmlformats.org/drawingml/2006/table">
            <a:tbl>
              <a:tblPr/>
              <a:tblGrid>
                <a:gridCol w="2857500"/>
                <a:gridCol w="2286000"/>
                <a:gridCol w="2000250"/>
                <a:gridCol w="1809750"/>
                <a:gridCol w="209550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广告类型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花费（美元）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花费占比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ROAS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较日常变化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直播间投流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26000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45.61%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−11.76%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达人短视频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21000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36.84%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3.50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+9.38%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再营销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17.54%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4.20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+35.48%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71500" y="409575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本次静态保本广告上限为45490美元，实际花费57000美元。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4810125"/>
            <a:ext cx="1095375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保本上限＝销售235000−非广告成本189510。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下次预算按预计销售、非广告成本和目标利润重新核定。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直播间优先拆到场次和商品，缩减持续低效投放。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商品与库存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US畅销品售罄，长尾商品库存集中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666875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45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US贡献公司83.93%的经营利润，五款售罄商品贡献站点41.16%的销售。</a:t>
            </a:r>
            <a:endParaRPr sz="2175" b="1">
              <a:solidFill>
                <a:srgbClr val="245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71500" y="2762250"/>
          <a:ext cx="11049000" cy="2190752"/>
        </p:xfrm>
        <a:graphic>
          <a:graphicData uri="http://schemas.openxmlformats.org/drawingml/2006/table">
            <a:tbl>
              <a:tblPr/>
              <a:tblGrid>
                <a:gridCol w="3333750"/>
                <a:gridCol w="4286250"/>
                <a:gridCol w="3429000"/>
              </a:tblGrid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站点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长尾商品期末库存（件）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占站点期末库存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Amazon US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24800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89.86%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Amazon EU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17200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85.57%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TikTok SEA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13500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72.58%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571500" y="52387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US优先调整五款畅销商品备货。TikTok保鲜盒售出期初库存91.18%。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三个站点长尾商品均需拆到具体SKU，再决定减采或清理库存。</a:t>
            </a:r>
            <a:endParaRPr sz="1950" b="0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活动执行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四段异常，需逐项核查处理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71500" y="1666875"/>
          <a:ext cx="11049000" cy="3905250"/>
        </p:xfrm>
        <a:graphic>
          <a:graphicData uri="http://schemas.openxmlformats.org/drawingml/2006/table">
            <a:tbl>
              <a:tblPr/>
              <a:tblGrid>
                <a:gridCol w="3429000"/>
                <a:gridCol w="3905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站点与时段（ET）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异常及表现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后续核查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 11月29日08</a:t>
                      </a:r>
                      <a:r>
                        <a:rPr lang="en-US"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12时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促销价格偏低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客单价25.33美元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核对成交价、叠加优惠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和商品利润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EU 11月29日14</a:t>
                      </a:r>
                      <a:r>
                        <a:rPr lang="en-US"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18时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优惠券延迟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转化率17.30%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核对券生效时间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及受影响商品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TK 11月30日00</a:t>
                      </a:r>
                      <a:r>
                        <a:rPr lang="en-US"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11时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订单集中、履约队列拉长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售后及履约咨询预警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关联退货商品与原因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核实空运补货商品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 12月1日13</a:t>
                      </a:r>
                      <a:r>
                        <a:rPr lang="en-US"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15时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库存同步延迟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该窗口转化率34.94%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核对商品可售库存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和同步记录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 经营安排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下一次大促：预算与促销</a:t>
            </a:r>
            <a:r>
              <a:rPr lang="zh-CN"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安排</a:t>
            </a:r>
            <a:endParaRPr lang="zh-CN"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10870" y="1943100"/>
          <a:ext cx="11049000" cy="3347085"/>
        </p:xfrm>
        <a:graphic>
          <a:graphicData uri="http://schemas.openxmlformats.org/drawingml/2006/table">
            <a:tbl>
              <a:tblPr/>
              <a:tblGrid>
                <a:gridCol w="2762250"/>
                <a:gridCol w="4381500"/>
                <a:gridCol w="3905250"/>
              </a:tblGrid>
              <a:tr h="560705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事项 / 责任人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时间与动作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</a:t>
                      </a:r>
                      <a:r>
                        <a:rPr lang="zh-CN"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要求</a:t>
                      </a:r>
                      <a:endParaRPr lang="zh-CN"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预算与投放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运营、广告、财务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活动前核定站点预算与利润底线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活动中按日更新预算和投放结构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未经审批不超预算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预计经营利润不低于批准底线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EU优惠券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EU运营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活动前24小时完成配置核验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上线后首小时检查生效与成交价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重点商品逐项留存检查记录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优惠券异常及时修复并复核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低效广告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站点运营、广告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活动前拆解直播场次和品类词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活动中按商品盈利调整投放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低效活动形成明确处理清单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按归因窗口复核调整效果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2381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 经营安排</a:t>
            </a:r>
            <a:endParaRPr sz="1350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66675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3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下一次大促：备货、库存与履约安排</a:t>
            </a:r>
            <a:endParaRPr sz="3150" b="1">
              <a:solidFill>
                <a:srgbClr val="243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096625" y="642937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6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125" b="0">
              <a:solidFill>
                <a:srgbClr val="6876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571500" y="1666875"/>
          <a:ext cx="11049000" cy="3905252"/>
        </p:xfrm>
        <a:graphic>
          <a:graphicData uri="http://schemas.openxmlformats.org/drawingml/2006/table">
            <a:tbl>
              <a:tblPr/>
              <a:tblGrid>
                <a:gridCol w="2762250"/>
                <a:gridCol w="4381500"/>
                <a:gridCol w="3905250"/>
              </a:tblGrid>
              <a:tr h="97631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事项 / 责任人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时间与动作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验收要求</a:t>
                      </a:r>
                      <a:endParaRPr sz="1800" b="1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T w="9525">
                      <a:solidFill>
                        <a:srgbClr val="D7DEE3"/>
                      </a:solidFill>
                      <a:prstDash val="solid"/>
                    </a:lnT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畅销商品供给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供应链、运营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备货前重算US五款畅销品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及TK保鲜盒安全库存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活动中按销量与到货周期补货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重点商品不在活动前80%进度售罄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每日复核库存与到货计划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长尾库存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运营、供应链、广告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采购前拆分长尾SKU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减采低周转商品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逐项测算折扣清库存收益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形成SKU处理清单和去化目标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每周跟踪库存与清理损益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TK履约与退货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仓储、客服、财务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D7DEE3"/>
                      </a:solidFill>
                      <a:prstDash val="solid"/>
                    </a:lnL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下次排期前核对退货原因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空运补货商品与费用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按订单峰值安排仓内产能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确认承接上限与预警责任人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437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记录超时订单及退货原因</a:t>
                      </a:r>
                      <a:endParaRPr sz="1800" b="0">
                        <a:solidFill>
                          <a:srgbClr val="2437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R w="9525">
                      <a:solidFill>
                        <a:srgbClr val="D7DEE3"/>
                      </a:solidFill>
                      <a:prstDash val="solid"/>
                    </a:lnR>
                    <a:lnB w="9525">
                      <a:solidFill>
                        <a:srgbClr val="D7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UNIT_TYPE" val="i"/>
  <p:tag name="KSO_WM_UNIT_INDEX" val="1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3"/>
  <p:tag name="KSO_WM_UNIT_LAYERLEVEL" val="1"/>
  <p:tag name="KSO_WM_TAG_VERSION" val="1.0"/>
  <p:tag name="KSO_WM_BEAUTIFY_FLAG" val="#wm#"/>
  <p:tag name="KSO_WM_UNIT_PRESET_TEXT" val="公司名占位符"/>
  <p:tag name="KSO_WM_UNIT_NOCLEAR" val="0"/>
  <p:tag name="KSO_WM_UNIT_VALUE" val="36"/>
  <p:tag name="KSO_WM_UNIT_TYPE" val="f"/>
  <p:tag name="KSO_WM_UNIT_INDEX" val="3"/>
  <p:tag name="KSO_WM_UNIT_SUBTYPE" val="g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1.0"/>
  <p:tag name="KSO_WM_BEAUTIFY_FLAG" val="#wm#"/>
  <p:tag name="KSO_WM_UNIT_SUBTYPE" val="c"/>
  <p:tag name="KSO_WM_UNIT_PRESET_TEXT" val="日期时间占位符"/>
  <p:tag name="KSO_WM_UNIT_NOCLEAR" val="0"/>
  <p:tag name="KSO_WM_UNIT_VALUE" val="8"/>
  <p:tag name="KSO_WM_UNIT_TYPE" val="f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1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TEMPLATE_CATEGORY" val="custom"/>
  <p:tag name="KSO_WM_TEMPLATE_INDEX" val="20230979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UNIT_NOCLEAR" val="0"/>
  <p:tag name="KSO_WM_TEMPLATE_CATEGORY" val="custom"/>
  <p:tag name="KSO_WM_TEMPLATE_INDEX" val="2023097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79"/>
  <p:tag name="KSO_WM_TEMPLATE_THUMBS_INDEX" val="1、9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79_1*a*1"/>
  <p:tag name="KSO_WM_TEMPLATE_CATEGORY" val="custom"/>
  <p:tag name="KSO_WM_TEMPLATE_INDEX" val="20230979"/>
  <p:tag name="KSO_WM_UNIT_LAYERLEVEL" val="1"/>
  <p:tag name="KSO_WM_TAG_VERSION" val="1.0"/>
  <p:tag name="KSO_WM_BEAUTIFY_FLAG" val="#wm#"/>
  <p:tag name="KSO_WM_UNIT_PRESET_TEXT" val="单击此处添加文档&#10;标题内容"/>
  <p:tag name="KSO_WM_UNIT_TEXT_TYPE" val="1"/>
</p:tagLst>
</file>

<file path=ppt/tags/tag37.xml><?xml version="1.0" encoding="utf-8"?>
<p:tagLst xmlns:p="http://schemas.openxmlformats.org/presentationml/2006/main">
  <p:tag name="KSO_WM_UNIT_SUBTYPE" val="c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79_1*f*1"/>
  <p:tag name="KSO_WM_TEMPLATE_CATEGORY" val="custom"/>
  <p:tag name="KSO_WM_TEMPLATE_INDEX" val="20230979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0979_1*f*3"/>
  <p:tag name="KSO_WM_TEMPLATE_CATEGORY" val="custom"/>
  <p:tag name="KSO_WM_TEMPLATE_INDEX" val="20230979"/>
  <p:tag name="KSO_WM_UNIT_LAYERLEVEL" val="1"/>
  <p:tag name="KSO_WM_TAG_VERSION" val="1.0"/>
  <p:tag name="KSO_WM_BEAUTIFY_FLAG" val="#wm#"/>
  <p:tag name="KSO_WM_UNIT_SUBTYPE" val="b"/>
</p:tagLst>
</file>

<file path=ppt/tags/tag39.xml><?xml version="1.0" encoding="utf-8"?>
<p:tagLst xmlns:p="http://schemas.openxmlformats.org/presentationml/2006/main">
  <p:tag name="KSO_WM_SLIDE_ID" val="custom2023097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979"/>
  <p:tag name="KSO_WM_SLIDE_LAYOUT" val="a_f"/>
  <p:tag name="KSO_WM_SLIDE_LAYOUT_CNT" val="1_3"/>
  <p:tag name="KSO_WM_SLIDE_TYPE" val="title"/>
  <p:tag name="KSO_WM_SLIDE_SUBTYPE" val="pureTxt"/>
  <p:tag name="KSO_WM_TEMPLATE_THUMBS_INDEX" val="1、9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43">
      <a:dk1>
        <a:sysClr val="windowText" lastClr="000000"/>
      </a:dk1>
      <a:lt1>
        <a:sysClr val="window" lastClr="FFFFFF"/>
      </a:lt1>
      <a:dk2>
        <a:srgbClr val="1E3643"/>
      </a:dk2>
      <a:lt2>
        <a:srgbClr val="EAFCFB"/>
      </a:lt2>
      <a:accent1>
        <a:srgbClr val="20DAD6"/>
      </a:accent1>
      <a:accent2>
        <a:srgbClr val="43AFB6"/>
      </a:accent2>
      <a:accent3>
        <a:srgbClr val="3F8297"/>
      </a:accent3>
      <a:accent4>
        <a:srgbClr val="3D6C87"/>
      </a:accent4>
      <a:accent5>
        <a:srgbClr val="FFC961"/>
      </a:accent5>
      <a:accent6>
        <a:srgbClr val="FF9845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accent4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</Words>
  <Application>WPS 演示</Application>
  <PresentationFormat>Converted Presentation</PresentationFormat>
  <Paragraphs>411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ChatGPT</vt:lpstr>
      <vt:lpstr>Office 主题​​</vt:lpstr>
      <vt:lpstr>黑五经营复盘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Lenovo</cp:lastModifiedBy>
  <cp:revision>6</cp:revision>
  <dcterms:created xsi:type="dcterms:W3CDTF">2026-10-16T02:26:00Z</dcterms:created>
  <dcterms:modified xsi:type="dcterms:W3CDTF">2026-10-16T02:42:52Z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0D58264F03544BDD87C90FEEE4DF6811_13</vt:lpwstr>
  </property>
  <property fmtid="{D5CDD505-2E9C-101B-9397-08002B2CF9AE}" pid="3" name="KSOProductBuildVer">
    <vt:lpwstr>2052-12.1.0.29158</vt:lpwstr>
  </property>
</Properties>
</file>